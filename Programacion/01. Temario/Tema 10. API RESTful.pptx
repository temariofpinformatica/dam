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Caveat"/>
      <p:regular r:id="rId19"/>
      <p:bold r:id="rId20"/>
    </p:embeddedFont>
    <p:embeddedFont>
      <p:font typeface="Nunito"/>
      <p:regular r:id="rId21"/>
      <p:bold r:id="rId22"/>
      <p:italic r:id="rId23"/>
      <p:boldItalic r:id="rId24"/>
    </p:embeddedFont>
    <p:embeddedFont>
      <p:font typeface="Maven Pro"/>
      <p:regular r:id="rId25"/>
      <p:bold r:id="rId26"/>
    </p:embeddedFont>
    <p:embeddedFont>
      <p:font typeface="Roboto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aveat-bold.fntdata"/><Relationship Id="rId22" Type="http://schemas.openxmlformats.org/officeDocument/2006/relationships/font" Target="fonts/Nunito-bold.fntdata"/><Relationship Id="rId21" Type="http://schemas.openxmlformats.org/officeDocument/2006/relationships/font" Target="fonts/Nunito-regular.fntdata"/><Relationship Id="rId24" Type="http://schemas.openxmlformats.org/officeDocument/2006/relationships/font" Target="fonts/Nunito-boldItalic.fntdata"/><Relationship Id="rId23" Type="http://schemas.openxmlformats.org/officeDocument/2006/relationships/font" Target="fonts/Nuni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avenPro-bold.fntdata"/><Relationship Id="rId25" Type="http://schemas.openxmlformats.org/officeDocument/2006/relationships/font" Target="fonts/MavenPro-regular.fntdata"/><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Caveat-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cedbf14296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cedbf14296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cf171550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cf171550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cef14dcf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cef14dcf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cf171550e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cf171550e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cf171550e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cf171550e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cef14dcfd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cef14dcfd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cef14dcfd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cef14dcfd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cef14dcfd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cef14dcfd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cf171550e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cf171550e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cf171550e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cf171550e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cef0e3ef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cef0e3ef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d0896017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d0896017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9" name="Google Shape;89;p4"/>
          <p:cNvSpPr txBox="1"/>
          <p:nvPr>
            <p:ph idx="1" type="body"/>
          </p:nvPr>
        </p:nvSpPr>
        <p:spPr>
          <a:xfrm>
            <a:off x="1303200" y="1490675"/>
            <a:ext cx="7155900" cy="3193200"/>
          </a:xfrm>
          <a:prstGeom prst="rect">
            <a:avLst/>
          </a:prstGeom>
        </p:spPr>
        <p:txBody>
          <a:bodyPr anchorCtr="0" anchor="t" bIns="91425" lIns="91425" spcFirstLastPara="1" rIns="91425" wrap="square" tIns="91425">
            <a:noAutofit/>
          </a:bodyPr>
          <a:lstStyle>
            <a:lvl1pPr indent="-355600" lvl="0" marL="457200" rtl="0">
              <a:spcBef>
                <a:spcPts val="0"/>
              </a:spcBef>
              <a:spcAft>
                <a:spcPts val="0"/>
              </a:spcAft>
              <a:buSzPts val="2000"/>
              <a:buChar char="●"/>
              <a:defRPr sz="2000"/>
            </a:lvl1pPr>
            <a:lvl2pPr indent="-330200" lvl="1" marL="914400" rtl="0">
              <a:spcBef>
                <a:spcPts val="0"/>
              </a:spcBef>
              <a:spcAft>
                <a:spcPts val="0"/>
              </a:spcAft>
              <a:buSzPts val="1600"/>
              <a:buChar char="○"/>
              <a:defRPr sz="1600"/>
            </a:lvl2pPr>
            <a:lvl3pPr indent="-311150" lvl="2" marL="1371600" rtl="0">
              <a:spcBef>
                <a:spcPts val="0"/>
              </a:spcBef>
              <a:spcAft>
                <a:spcPts val="0"/>
              </a:spcAft>
              <a:buSzPts val="1300"/>
              <a:buChar char="■"/>
              <a:defRPr sz="1300"/>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90" name="Google Shape;90;p4"/>
          <p:cNvSpPr txBox="1"/>
          <p:nvPr/>
        </p:nvSpPr>
        <p:spPr>
          <a:xfrm>
            <a:off x="223825" y="4701325"/>
            <a:ext cx="3655800" cy="33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0000FF"/>
                </a:solidFill>
                <a:latin typeface="Trebuchet MS"/>
                <a:ea typeface="Trebuchet MS"/>
                <a:cs typeface="Trebuchet MS"/>
                <a:sym typeface="Trebuchet MS"/>
              </a:rPr>
              <a:t>API RESTful</a:t>
            </a:r>
            <a:endParaRPr>
              <a:solidFill>
                <a:srgbClr val="0000FF"/>
              </a:solidFill>
              <a:latin typeface="Trebuchet MS"/>
              <a:ea typeface="Trebuchet MS"/>
              <a:cs typeface="Trebuchet MS"/>
              <a:sym typeface="Trebuchet MS"/>
            </a:endParaRPr>
          </a:p>
        </p:txBody>
      </p:sp>
      <p:sp>
        <p:nvSpPr>
          <p:cNvPr id="91" name="Google Shape;91;p4"/>
          <p:cNvSpPr txBox="1"/>
          <p:nvPr/>
        </p:nvSpPr>
        <p:spPr>
          <a:xfrm>
            <a:off x="6239500" y="4723825"/>
            <a:ext cx="2473500" cy="294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1500">
                <a:solidFill>
                  <a:srgbClr val="FF0000"/>
                </a:solidFill>
                <a:latin typeface="Caveat"/>
                <a:ea typeface="Caveat"/>
                <a:cs typeface="Caveat"/>
                <a:sym typeface="Caveat"/>
              </a:rPr>
              <a:t>Rafael del Castillo Gomariz</a:t>
            </a:r>
            <a:endParaRPr sz="1500">
              <a:solidFill>
                <a:srgbClr val="FF0000"/>
              </a:solidFill>
              <a:latin typeface="Caveat"/>
              <a:ea typeface="Caveat"/>
              <a:cs typeface="Caveat"/>
              <a:sym typeface="Caveat"/>
            </a:endParaRPr>
          </a:p>
        </p:txBody>
      </p:sp>
      <p:sp>
        <p:nvSpPr>
          <p:cNvPr id="92" name="Google Shape;92;p4"/>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s" sz="1300">
                <a:solidFill>
                  <a:srgbClr val="0000FF"/>
                </a:solidFill>
                <a:latin typeface="Nunito"/>
                <a:ea typeface="Nunito"/>
                <a:cs typeface="Nunito"/>
                <a:sym typeface="Nunito"/>
              </a:rPr>
              <a:t>‹#›</a:t>
            </a:fld>
            <a:endParaRPr sz="1300">
              <a:solidFill>
                <a:srgbClr val="0000FF"/>
              </a:solidFill>
              <a:latin typeface="Nunito"/>
              <a:ea typeface="Nunito"/>
              <a:cs typeface="Nunito"/>
              <a:sym typeface="Nuni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3" name="Shape 93"/>
        <p:cNvGrpSpPr/>
        <p:nvPr/>
      </p:nvGrpSpPr>
      <p:grpSpPr>
        <a:xfrm>
          <a:off x="0" y="0"/>
          <a:ext cx="0" cy="0"/>
          <a:chOff x="0" y="0"/>
          <a:chExt cx="0" cy="0"/>
        </a:xfrm>
      </p:grpSpPr>
      <p:grpSp>
        <p:nvGrpSpPr>
          <p:cNvPr id="94" name="Google Shape;94;p5"/>
          <p:cNvGrpSpPr/>
          <p:nvPr/>
        </p:nvGrpSpPr>
        <p:grpSpPr>
          <a:xfrm>
            <a:off x="625966" y="299376"/>
            <a:ext cx="999312" cy="999312"/>
            <a:chOff x="348199" y="179450"/>
            <a:chExt cx="1116300" cy="1116300"/>
          </a:xfrm>
        </p:grpSpPr>
        <p:sp>
          <p:nvSpPr>
            <p:cNvPr id="95" name="Google Shape;95;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9" name="Google Shape;99;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0" name="Google Shape;100;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1" name="Shape 101"/>
        <p:cNvGrpSpPr/>
        <p:nvPr/>
      </p:nvGrpSpPr>
      <p:grpSpPr>
        <a:xfrm>
          <a:off x="0" y="0"/>
          <a:ext cx="0" cy="0"/>
          <a:chOff x="0" y="0"/>
          <a:chExt cx="0" cy="0"/>
        </a:xfrm>
      </p:grpSpPr>
      <p:grpSp>
        <p:nvGrpSpPr>
          <p:cNvPr id="102" name="Google Shape;102;p6"/>
          <p:cNvGrpSpPr/>
          <p:nvPr/>
        </p:nvGrpSpPr>
        <p:grpSpPr>
          <a:xfrm>
            <a:off x="625966" y="299376"/>
            <a:ext cx="999312" cy="999312"/>
            <a:chOff x="348199" y="179450"/>
            <a:chExt cx="1116300" cy="1116300"/>
          </a:xfrm>
        </p:grpSpPr>
        <p:sp>
          <p:nvSpPr>
            <p:cNvPr id="103" name="Google Shape;103;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 name="Google Shape;106;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7" name="Shape 107"/>
        <p:cNvGrpSpPr/>
        <p:nvPr/>
      </p:nvGrpSpPr>
      <p:grpSpPr>
        <a:xfrm>
          <a:off x="0" y="0"/>
          <a:ext cx="0" cy="0"/>
          <a:chOff x="0" y="0"/>
          <a:chExt cx="0" cy="0"/>
        </a:xfrm>
      </p:grpSpPr>
      <p:grpSp>
        <p:nvGrpSpPr>
          <p:cNvPr id="108" name="Google Shape;108;p7"/>
          <p:cNvGrpSpPr/>
          <p:nvPr/>
        </p:nvGrpSpPr>
        <p:grpSpPr>
          <a:xfrm>
            <a:off x="625966" y="299376"/>
            <a:ext cx="999312" cy="999312"/>
            <a:chOff x="348199" y="179450"/>
            <a:chExt cx="1116300" cy="1116300"/>
          </a:xfrm>
        </p:grpSpPr>
        <p:sp>
          <p:nvSpPr>
            <p:cNvPr id="109" name="Google Shape;109;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 name="Google Shape;112;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3" name="Google Shape;113;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4" name="Shape 114"/>
        <p:cNvGrpSpPr/>
        <p:nvPr/>
      </p:nvGrpSpPr>
      <p:grpSpPr>
        <a:xfrm>
          <a:off x="0" y="0"/>
          <a:ext cx="0" cy="0"/>
          <a:chOff x="0" y="0"/>
          <a:chExt cx="0" cy="0"/>
        </a:xfrm>
      </p:grpSpPr>
      <p:grpSp>
        <p:nvGrpSpPr>
          <p:cNvPr id="115" name="Google Shape;115;p8"/>
          <p:cNvGrpSpPr/>
          <p:nvPr/>
        </p:nvGrpSpPr>
        <p:grpSpPr>
          <a:xfrm>
            <a:off x="6866714" y="1306"/>
            <a:ext cx="2267451" cy="2601690"/>
            <a:chOff x="6790514" y="1306"/>
            <a:chExt cx="2267451" cy="2601690"/>
          </a:xfrm>
        </p:grpSpPr>
        <p:grpSp>
          <p:nvGrpSpPr>
            <p:cNvPr id="116" name="Google Shape;116;p8"/>
            <p:cNvGrpSpPr/>
            <p:nvPr/>
          </p:nvGrpSpPr>
          <p:grpSpPr>
            <a:xfrm>
              <a:off x="7067465" y="1306"/>
              <a:ext cx="1990500" cy="1990200"/>
              <a:chOff x="7067465" y="1306"/>
              <a:chExt cx="1990500" cy="1990200"/>
            </a:xfrm>
          </p:grpSpPr>
          <p:sp>
            <p:nvSpPr>
              <p:cNvPr id="117" name="Google Shape;117;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 name="Google Shape;120;p8"/>
            <p:cNvGrpSpPr/>
            <p:nvPr/>
          </p:nvGrpSpPr>
          <p:grpSpPr>
            <a:xfrm>
              <a:off x="8207126" y="1807996"/>
              <a:ext cx="795000" cy="795000"/>
              <a:chOff x="8207126" y="1807996"/>
              <a:chExt cx="795000" cy="795000"/>
            </a:xfrm>
          </p:grpSpPr>
          <p:sp>
            <p:nvSpPr>
              <p:cNvPr id="121" name="Google Shape;121;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 name="Google Shape;124;p8"/>
            <p:cNvGrpSpPr/>
            <p:nvPr/>
          </p:nvGrpSpPr>
          <p:grpSpPr>
            <a:xfrm>
              <a:off x="6790514" y="118857"/>
              <a:ext cx="548700" cy="548700"/>
              <a:chOff x="6790514" y="118857"/>
              <a:chExt cx="548700" cy="548700"/>
            </a:xfrm>
          </p:grpSpPr>
          <p:sp>
            <p:nvSpPr>
              <p:cNvPr id="125" name="Google Shape;125;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7" name="Google Shape;127;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8" name="Google Shape;128;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grpSp>
        <p:nvGrpSpPr>
          <p:cNvPr id="130" name="Google Shape;130;p9"/>
          <p:cNvGrpSpPr/>
          <p:nvPr/>
        </p:nvGrpSpPr>
        <p:grpSpPr>
          <a:xfrm>
            <a:off x="625966" y="299376"/>
            <a:ext cx="999312" cy="999312"/>
            <a:chOff x="348199" y="179450"/>
            <a:chExt cx="1116300" cy="1116300"/>
          </a:xfrm>
        </p:grpSpPr>
        <p:sp>
          <p:nvSpPr>
            <p:cNvPr id="131" name="Google Shape;131;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 name="Google Shape;133;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4" name="Google Shape;134;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5" name="Google Shape;135;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6" name="Google Shape;136;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7" name="Shape 137"/>
        <p:cNvGrpSpPr/>
        <p:nvPr/>
      </p:nvGrpSpPr>
      <p:grpSpPr>
        <a:xfrm>
          <a:off x="0" y="0"/>
          <a:ext cx="0" cy="0"/>
          <a:chOff x="0" y="0"/>
          <a:chExt cx="0" cy="0"/>
        </a:xfrm>
      </p:grpSpPr>
      <p:grpSp>
        <p:nvGrpSpPr>
          <p:cNvPr id="138" name="Google Shape;138;p10"/>
          <p:cNvGrpSpPr/>
          <p:nvPr/>
        </p:nvGrpSpPr>
        <p:grpSpPr>
          <a:xfrm>
            <a:off x="713373" y="3847119"/>
            <a:ext cx="825392" cy="825392"/>
            <a:chOff x="348199" y="179450"/>
            <a:chExt cx="1116300" cy="1116300"/>
          </a:xfrm>
        </p:grpSpPr>
        <p:sp>
          <p:nvSpPr>
            <p:cNvPr id="139" name="Google Shape;139;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 name="Google Shape;141;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2" name="Google Shape;142;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3" name="Shape 143"/>
        <p:cNvGrpSpPr/>
        <p:nvPr/>
      </p:nvGrpSpPr>
      <p:grpSpPr>
        <a:xfrm>
          <a:off x="0" y="0"/>
          <a:ext cx="0" cy="0"/>
          <a:chOff x="0" y="0"/>
          <a:chExt cx="0" cy="0"/>
        </a:xfrm>
      </p:grpSpPr>
      <p:grpSp>
        <p:nvGrpSpPr>
          <p:cNvPr id="144" name="Google Shape;144;p11"/>
          <p:cNvGrpSpPr/>
          <p:nvPr/>
        </p:nvGrpSpPr>
        <p:grpSpPr>
          <a:xfrm>
            <a:off x="52" y="4099200"/>
            <a:ext cx="9144036" cy="1044300"/>
            <a:chOff x="52" y="4099200"/>
            <a:chExt cx="9144036" cy="1044300"/>
          </a:xfrm>
        </p:grpSpPr>
        <p:grpSp>
          <p:nvGrpSpPr>
            <p:cNvPr id="145" name="Google Shape;145;p11"/>
            <p:cNvGrpSpPr/>
            <p:nvPr/>
          </p:nvGrpSpPr>
          <p:grpSpPr>
            <a:xfrm>
              <a:off x="52" y="4309200"/>
              <a:ext cx="231622" cy="834300"/>
              <a:chOff x="2688737" y="4301380"/>
              <a:chExt cx="231900" cy="834300"/>
            </a:xfrm>
          </p:grpSpPr>
          <p:sp>
            <p:nvSpPr>
              <p:cNvPr id="146" name="Google Shape;146;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 name="Google Shape;150;p11"/>
            <p:cNvGrpSpPr/>
            <p:nvPr/>
          </p:nvGrpSpPr>
          <p:grpSpPr>
            <a:xfrm>
              <a:off x="371406" y="4099200"/>
              <a:ext cx="231622" cy="1044300"/>
              <a:chOff x="2688737" y="4091380"/>
              <a:chExt cx="231900" cy="1044300"/>
            </a:xfrm>
          </p:grpSpPr>
          <p:sp>
            <p:nvSpPr>
              <p:cNvPr id="151" name="Google Shape;151;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 name="Google Shape;156;p11"/>
            <p:cNvGrpSpPr/>
            <p:nvPr/>
          </p:nvGrpSpPr>
          <p:grpSpPr>
            <a:xfrm>
              <a:off x="742761" y="4309200"/>
              <a:ext cx="231622" cy="834300"/>
              <a:chOff x="2688737" y="4301380"/>
              <a:chExt cx="231900" cy="834300"/>
            </a:xfrm>
          </p:grpSpPr>
          <p:sp>
            <p:nvSpPr>
              <p:cNvPr id="157" name="Google Shape;157;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11"/>
            <p:cNvGrpSpPr/>
            <p:nvPr/>
          </p:nvGrpSpPr>
          <p:grpSpPr>
            <a:xfrm>
              <a:off x="1114115" y="4518900"/>
              <a:ext cx="231622" cy="624600"/>
              <a:chOff x="2688737" y="4511080"/>
              <a:chExt cx="231900" cy="624600"/>
            </a:xfrm>
          </p:grpSpPr>
          <p:sp>
            <p:nvSpPr>
              <p:cNvPr id="162" name="Google Shape;162;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 name="Google Shape;165;p11"/>
            <p:cNvGrpSpPr/>
            <p:nvPr/>
          </p:nvGrpSpPr>
          <p:grpSpPr>
            <a:xfrm>
              <a:off x="1856753" y="4099200"/>
              <a:ext cx="231600" cy="1044300"/>
              <a:chOff x="1856753" y="4099200"/>
              <a:chExt cx="231600" cy="1044300"/>
            </a:xfrm>
          </p:grpSpPr>
          <p:sp>
            <p:nvSpPr>
              <p:cNvPr id="166" name="Google Shape;166;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11"/>
            <p:cNvGrpSpPr/>
            <p:nvPr/>
          </p:nvGrpSpPr>
          <p:grpSpPr>
            <a:xfrm>
              <a:off x="2228107" y="4309200"/>
              <a:ext cx="231600" cy="834300"/>
              <a:chOff x="2228107" y="4309200"/>
              <a:chExt cx="231600" cy="834300"/>
            </a:xfrm>
          </p:grpSpPr>
          <p:sp>
            <p:nvSpPr>
              <p:cNvPr id="172" name="Google Shape;172;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 name="Google Shape;176;p11"/>
            <p:cNvGrpSpPr/>
            <p:nvPr/>
          </p:nvGrpSpPr>
          <p:grpSpPr>
            <a:xfrm>
              <a:off x="2599462" y="4518900"/>
              <a:ext cx="231600" cy="624600"/>
              <a:chOff x="2599462" y="4518900"/>
              <a:chExt cx="231600" cy="624600"/>
            </a:xfrm>
          </p:grpSpPr>
          <p:sp>
            <p:nvSpPr>
              <p:cNvPr id="177" name="Google Shape;177;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 name="Google Shape;180;p11"/>
            <p:cNvGrpSpPr/>
            <p:nvPr/>
          </p:nvGrpSpPr>
          <p:grpSpPr>
            <a:xfrm>
              <a:off x="3342171" y="4099200"/>
              <a:ext cx="231600" cy="1044300"/>
              <a:chOff x="3342171" y="4099200"/>
              <a:chExt cx="231600" cy="1044300"/>
            </a:xfrm>
          </p:grpSpPr>
          <p:sp>
            <p:nvSpPr>
              <p:cNvPr id="181" name="Google Shape;181;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 name="Google Shape;186;p11"/>
            <p:cNvGrpSpPr/>
            <p:nvPr/>
          </p:nvGrpSpPr>
          <p:grpSpPr>
            <a:xfrm>
              <a:off x="3713525" y="4309200"/>
              <a:ext cx="231600" cy="834300"/>
              <a:chOff x="3713525" y="4309200"/>
              <a:chExt cx="231600" cy="834300"/>
            </a:xfrm>
          </p:grpSpPr>
          <p:sp>
            <p:nvSpPr>
              <p:cNvPr id="187" name="Google Shape;187;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 name="Google Shape;191;p11"/>
            <p:cNvGrpSpPr/>
            <p:nvPr/>
          </p:nvGrpSpPr>
          <p:grpSpPr>
            <a:xfrm>
              <a:off x="1485398" y="4309200"/>
              <a:ext cx="231600" cy="834300"/>
              <a:chOff x="1485398" y="4309200"/>
              <a:chExt cx="231600" cy="834300"/>
            </a:xfrm>
          </p:grpSpPr>
          <p:sp>
            <p:nvSpPr>
              <p:cNvPr id="192" name="Google Shape;192;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 name="Google Shape;196;p11"/>
            <p:cNvGrpSpPr/>
            <p:nvPr/>
          </p:nvGrpSpPr>
          <p:grpSpPr>
            <a:xfrm>
              <a:off x="4084879" y="4518900"/>
              <a:ext cx="231600" cy="624600"/>
              <a:chOff x="4084879" y="4518900"/>
              <a:chExt cx="231600" cy="624600"/>
            </a:xfrm>
          </p:grpSpPr>
          <p:sp>
            <p:nvSpPr>
              <p:cNvPr id="197" name="Google Shape;197;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 name="Google Shape;200;p11"/>
            <p:cNvGrpSpPr/>
            <p:nvPr/>
          </p:nvGrpSpPr>
          <p:grpSpPr>
            <a:xfrm>
              <a:off x="2970816" y="4309200"/>
              <a:ext cx="231600" cy="834300"/>
              <a:chOff x="2970816" y="4309200"/>
              <a:chExt cx="231600" cy="834300"/>
            </a:xfrm>
          </p:grpSpPr>
          <p:sp>
            <p:nvSpPr>
              <p:cNvPr id="201" name="Google Shape;201;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 name="Google Shape;205;p11"/>
            <p:cNvGrpSpPr/>
            <p:nvPr/>
          </p:nvGrpSpPr>
          <p:grpSpPr>
            <a:xfrm>
              <a:off x="4456234" y="4309200"/>
              <a:ext cx="231600" cy="834300"/>
              <a:chOff x="4456234" y="4309200"/>
              <a:chExt cx="231600" cy="834300"/>
            </a:xfrm>
          </p:grpSpPr>
          <p:sp>
            <p:nvSpPr>
              <p:cNvPr id="206" name="Google Shape;206;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 name="Google Shape;210;p11"/>
            <p:cNvGrpSpPr/>
            <p:nvPr/>
          </p:nvGrpSpPr>
          <p:grpSpPr>
            <a:xfrm>
              <a:off x="4827588" y="4099200"/>
              <a:ext cx="231600" cy="1044300"/>
              <a:chOff x="4827588" y="4099200"/>
              <a:chExt cx="231600" cy="1044300"/>
            </a:xfrm>
          </p:grpSpPr>
          <p:sp>
            <p:nvSpPr>
              <p:cNvPr id="211" name="Google Shape;211;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 name="Google Shape;216;p11"/>
            <p:cNvGrpSpPr/>
            <p:nvPr/>
          </p:nvGrpSpPr>
          <p:grpSpPr>
            <a:xfrm>
              <a:off x="5198943" y="4309200"/>
              <a:ext cx="231600" cy="834300"/>
              <a:chOff x="5198943" y="4309200"/>
              <a:chExt cx="231600" cy="834300"/>
            </a:xfrm>
          </p:grpSpPr>
          <p:sp>
            <p:nvSpPr>
              <p:cNvPr id="217" name="Google Shape;217;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 name="Google Shape;221;p11"/>
            <p:cNvGrpSpPr/>
            <p:nvPr/>
          </p:nvGrpSpPr>
          <p:grpSpPr>
            <a:xfrm>
              <a:off x="5570297" y="4518900"/>
              <a:ext cx="231600" cy="624600"/>
              <a:chOff x="5570297" y="4518900"/>
              <a:chExt cx="231600" cy="624600"/>
            </a:xfrm>
          </p:grpSpPr>
          <p:sp>
            <p:nvSpPr>
              <p:cNvPr id="222" name="Google Shape;222;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 name="Google Shape;225;p11"/>
            <p:cNvGrpSpPr/>
            <p:nvPr/>
          </p:nvGrpSpPr>
          <p:grpSpPr>
            <a:xfrm>
              <a:off x="5941652" y="4309200"/>
              <a:ext cx="231600" cy="834300"/>
              <a:chOff x="5941652" y="4309200"/>
              <a:chExt cx="231600" cy="834300"/>
            </a:xfrm>
          </p:grpSpPr>
          <p:sp>
            <p:nvSpPr>
              <p:cNvPr id="226" name="Google Shape;226;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0" name="Google Shape;230;p11"/>
            <p:cNvGrpSpPr/>
            <p:nvPr/>
          </p:nvGrpSpPr>
          <p:grpSpPr>
            <a:xfrm>
              <a:off x="6313006" y="4099200"/>
              <a:ext cx="231600" cy="1044300"/>
              <a:chOff x="6313006" y="4099200"/>
              <a:chExt cx="231600" cy="1044300"/>
            </a:xfrm>
          </p:grpSpPr>
          <p:sp>
            <p:nvSpPr>
              <p:cNvPr id="231" name="Google Shape;231;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 name="Google Shape;236;p11"/>
            <p:cNvGrpSpPr/>
            <p:nvPr/>
          </p:nvGrpSpPr>
          <p:grpSpPr>
            <a:xfrm>
              <a:off x="6684361" y="4309200"/>
              <a:ext cx="231600" cy="834300"/>
              <a:chOff x="6684361" y="4309200"/>
              <a:chExt cx="231600" cy="834300"/>
            </a:xfrm>
          </p:grpSpPr>
          <p:sp>
            <p:nvSpPr>
              <p:cNvPr id="237" name="Google Shape;237;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 name="Google Shape;241;p11"/>
            <p:cNvGrpSpPr/>
            <p:nvPr/>
          </p:nvGrpSpPr>
          <p:grpSpPr>
            <a:xfrm>
              <a:off x="7055715" y="4518900"/>
              <a:ext cx="231600" cy="624600"/>
              <a:chOff x="7055715" y="4518900"/>
              <a:chExt cx="231600" cy="624600"/>
            </a:xfrm>
          </p:grpSpPr>
          <p:sp>
            <p:nvSpPr>
              <p:cNvPr id="242" name="Google Shape;242;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 name="Google Shape;245;p11"/>
            <p:cNvGrpSpPr/>
            <p:nvPr/>
          </p:nvGrpSpPr>
          <p:grpSpPr>
            <a:xfrm>
              <a:off x="7798424" y="4099200"/>
              <a:ext cx="231600" cy="1044300"/>
              <a:chOff x="7798424" y="4099200"/>
              <a:chExt cx="231600" cy="1044300"/>
            </a:xfrm>
          </p:grpSpPr>
          <p:sp>
            <p:nvSpPr>
              <p:cNvPr id="246" name="Google Shape;246;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 name="Google Shape;251;p11"/>
            <p:cNvGrpSpPr/>
            <p:nvPr/>
          </p:nvGrpSpPr>
          <p:grpSpPr>
            <a:xfrm>
              <a:off x="8169779" y="4309200"/>
              <a:ext cx="231600" cy="834300"/>
              <a:chOff x="8169779" y="4309200"/>
              <a:chExt cx="231600" cy="834300"/>
            </a:xfrm>
          </p:grpSpPr>
          <p:sp>
            <p:nvSpPr>
              <p:cNvPr id="252" name="Google Shape;252;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 name="Google Shape;256;p11"/>
            <p:cNvGrpSpPr/>
            <p:nvPr/>
          </p:nvGrpSpPr>
          <p:grpSpPr>
            <a:xfrm>
              <a:off x="7427070" y="4309200"/>
              <a:ext cx="231600" cy="834300"/>
              <a:chOff x="7427070" y="4309200"/>
              <a:chExt cx="231600" cy="834300"/>
            </a:xfrm>
          </p:grpSpPr>
          <p:sp>
            <p:nvSpPr>
              <p:cNvPr id="257" name="Google Shape;257;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1" name="Google Shape;261;p11"/>
            <p:cNvGrpSpPr/>
            <p:nvPr/>
          </p:nvGrpSpPr>
          <p:grpSpPr>
            <a:xfrm>
              <a:off x="8541133" y="4518900"/>
              <a:ext cx="231600" cy="624600"/>
              <a:chOff x="8541133" y="4518900"/>
              <a:chExt cx="231600" cy="624600"/>
            </a:xfrm>
          </p:grpSpPr>
          <p:sp>
            <p:nvSpPr>
              <p:cNvPr id="262" name="Google Shape;262;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 name="Google Shape;265;p11"/>
            <p:cNvGrpSpPr/>
            <p:nvPr/>
          </p:nvGrpSpPr>
          <p:grpSpPr>
            <a:xfrm>
              <a:off x="8912488" y="4309200"/>
              <a:ext cx="231600" cy="834300"/>
              <a:chOff x="8912488" y="4309200"/>
              <a:chExt cx="231600" cy="834300"/>
            </a:xfrm>
          </p:grpSpPr>
          <p:sp>
            <p:nvSpPr>
              <p:cNvPr id="266" name="Google Shape;266;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0" name="Google Shape;270;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71" name="Google Shape;271;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2" name="Google Shape;272;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3" name="Shape 273"/>
        <p:cNvGrpSpPr/>
        <p:nvPr/>
      </p:nvGrpSpPr>
      <p:grpSpPr>
        <a:xfrm>
          <a:off x="0" y="0"/>
          <a:ext cx="0" cy="0"/>
          <a:chOff x="0" y="0"/>
          <a:chExt cx="0" cy="0"/>
        </a:xfrm>
      </p:grpSpPr>
      <p:sp>
        <p:nvSpPr>
          <p:cNvPr id="274" name="Google Shape;274;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github.com/rdelcastillo/DAW-Python/blob/master/notebooks/5.1%20Rest%20Api%20en%20Python.ipynb" TargetMode="External"/><Relationship Id="rId4" Type="http://schemas.openxmlformats.org/officeDocument/2006/relationships/hyperlink" Target="https://es.wikipedia.org/wiki/Protocolo_de_transferencia_de_hipertext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programmableweb.com/"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es.wikipedia.org/wiki/Simple_Object_Access_Protoco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es.wikipedia.org/wiki/OAuth" TargetMode="External"/><Relationship Id="rId4" Type="http://schemas.openxmlformats.org/officeDocument/2006/relationships/hyperlink" Target="https://www.oauth.com/oauth2-servers/differences-between-oauth-1-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smashingmagazine.com/2018/01/understanding-using-rest-api/" TargetMode="Externa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openjdk.java.net/groups/net/httpclient/intro.html" TargetMode="External"/><Relationship Id="rId4" Type="http://schemas.openxmlformats.org/officeDocument/2006/relationships/hyperlink" Target="https://docs.oracle.com/en/java/javase/11/docs/api/java.net.http/java/net/http/HttpClient.html" TargetMode="External"/><Relationship Id="rId9" Type="http://schemas.openxmlformats.org/officeDocument/2006/relationships/hyperlink" Target="https://docs.oracle.com/en/java/javase/11/docs/api/java.net.http/java/net/http/HttpResponse.BodyHandler.html" TargetMode="External"/><Relationship Id="rId5" Type="http://schemas.openxmlformats.org/officeDocument/2006/relationships/hyperlink" Target="https://docs.oracle.com/en/java/javase/11/docs/api/java.net.http/java/net/http/HttpRequest.html" TargetMode="External"/><Relationship Id="rId6" Type="http://schemas.openxmlformats.org/officeDocument/2006/relationships/hyperlink" Target="https://docs.oracle.com/en/java/javase/11/docs/api/java.net.http/java/net/http/HttpClient.html#send(java.net.http.HttpRequest,java.net.http.HttpResponse.BodyHandler)" TargetMode="External"/><Relationship Id="rId7" Type="http://schemas.openxmlformats.org/officeDocument/2006/relationships/hyperlink" Target="https://docs.oracle.com/en/java/javase/11/docs/api/java.net.http/java/net/http/HttpClient.html#sendAsync(java.net.http.HttpRequest,java.net.http.HttpResponse.BodyHandler)" TargetMode="External"/><Relationship Id="rId8" Type="http://schemas.openxmlformats.org/officeDocument/2006/relationships/hyperlink" Target="https://docs.oracle.com/en/java/javase/11/docs/api/java.net.http/java/net/http/HttpResponse.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jsonschema2pojo.org/" TargetMode="External"/><Relationship Id="rId4" Type="http://schemas.openxmlformats.org/officeDocument/2006/relationships/hyperlink" Target="http://jsongen.byingtondesign.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API RESTful</a:t>
            </a:r>
            <a:endParaRPr/>
          </a:p>
        </p:txBody>
      </p:sp>
      <p:sp>
        <p:nvSpPr>
          <p:cNvPr id="280" name="Google Shape;280;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
              <a:t>Módulo de Programación. </a:t>
            </a:r>
            <a:endParaRPr/>
          </a:p>
          <a:p>
            <a:pPr indent="0" lvl="0" marL="0" rtl="0" algn="l">
              <a:spcBef>
                <a:spcPts val="0"/>
              </a:spcBef>
              <a:spcAft>
                <a:spcPts val="0"/>
              </a:spcAft>
              <a:buNone/>
            </a:pPr>
            <a:r>
              <a:rPr lang="es"/>
              <a:t>CFGS Desarrollo de Aplicaciones Web</a:t>
            </a:r>
            <a:endParaRPr/>
          </a:p>
          <a:p>
            <a:pPr indent="0" lvl="0" marL="0" rtl="0" algn="l">
              <a:spcBef>
                <a:spcPts val="0"/>
              </a:spcBef>
              <a:spcAft>
                <a:spcPts val="0"/>
              </a:spcAft>
              <a:buNone/>
            </a:pPr>
            <a:r>
              <a:rPr lang="es"/>
              <a:t>IES Gran Capitán</a:t>
            </a:r>
            <a:endParaRPr/>
          </a:p>
        </p:txBody>
      </p:sp>
      <p:pic>
        <p:nvPicPr>
          <p:cNvPr id="281" name="Google Shape;281;p13"/>
          <p:cNvPicPr preferRelativeResize="0"/>
          <p:nvPr/>
        </p:nvPicPr>
        <p:blipFill>
          <a:blip r:embed="rId3">
            <a:alphaModFix/>
          </a:blip>
          <a:stretch>
            <a:fillRect/>
          </a:stretch>
        </p:blipFill>
        <p:spPr>
          <a:xfrm>
            <a:off x="6760025" y="3091925"/>
            <a:ext cx="2383976" cy="2042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Servicio Web</a:t>
            </a:r>
            <a:endParaRPr/>
          </a:p>
        </p:txBody>
      </p:sp>
      <p:sp>
        <p:nvSpPr>
          <p:cNvPr id="287" name="Google Shape;287;p14"/>
          <p:cNvSpPr txBox="1"/>
          <p:nvPr>
            <p:ph idx="1" type="body"/>
          </p:nvPr>
        </p:nvSpPr>
        <p:spPr>
          <a:xfrm>
            <a:off x="1303200" y="1490675"/>
            <a:ext cx="7155900" cy="31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Un </a:t>
            </a:r>
            <a:r>
              <a:rPr lang="es" u="sng">
                <a:solidFill>
                  <a:schemeClr val="hlink"/>
                </a:solidFill>
                <a:hlinkClick r:id="rId3"/>
              </a:rPr>
              <a:t>servicio web</a:t>
            </a:r>
            <a:r>
              <a:rPr lang="es"/>
              <a:t> es un sistema software diseñado para soportar la </a:t>
            </a:r>
            <a:r>
              <a:rPr b="1" lang="es"/>
              <a:t>interacción máquina-a-máquina</a:t>
            </a:r>
            <a:r>
              <a:rPr lang="es"/>
              <a:t> a través de una red (Internet), de forma interoperable. </a:t>
            </a:r>
            <a:endParaRPr/>
          </a:p>
          <a:p>
            <a:pPr indent="0" lvl="0" marL="0" rtl="0" algn="l">
              <a:spcBef>
                <a:spcPts val="1200"/>
              </a:spcBef>
              <a:spcAft>
                <a:spcPts val="0"/>
              </a:spcAft>
              <a:buNone/>
            </a:pPr>
            <a:r>
              <a:rPr lang="es"/>
              <a:t>Cuenta con una interfaz descrita en un formato procesable por un equipo informático a través de la que es posible interactuar con el mismo sobre </a:t>
            </a:r>
            <a:r>
              <a:rPr lang="es" u="sng">
                <a:solidFill>
                  <a:schemeClr val="hlink"/>
                </a:solidFill>
                <a:hlinkClick r:id="rId4"/>
              </a:rPr>
              <a:t>HTTP</a:t>
            </a:r>
            <a:r>
              <a:rPr lang="es"/>
              <a:t> conjuntamente con otros estándares web.</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Servicio Web</a:t>
            </a:r>
            <a:endParaRPr/>
          </a:p>
        </p:txBody>
      </p:sp>
      <p:sp>
        <p:nvSpPr>
          <p:cNvPr id="293" name="Google Shape;293;p15"/>
          <p:cNvSpPr txBox="1"/>
          <p:nvPr>
            <p:ph idx="1" type="body"/>
          </p:nvPr>
        </p:nvSpPr>
        <p:spPr>
          <a:xfrm>
            <a:off x="1207550" y="1490675"/>
            <a:ext cx="5046000" cy="31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Mediante diferentes APIs podemos construir aplicaciones basadas en estos servicios de manera que:</a:t>
            </a:r>
            <a:endParaRPr/>
          </a:p>
          <a:p>
            <a:pPr indent="-355600" lvl="0" marL="457200" rtl="0" algn="l">
              <a:spcBef>
                <a:spcPts val="1200"/>
              </a:spcBef>
              <a:spcAft>
                <a:spcPts val="0"/>
              </a:spcAft>
              <a:buSzPts val="2000"/>
              <a:buChar char="●"/>
            </a:pPr>
            <a:r>
              <a:rPr lang="es"/>
              <a:t>Podemos consumir (solo lectura) recursos.</a:t>
            </a:r>
            <a:endParaRPr/>
          </a:p>
          <a:p>
            <a:pPr indent="-355600" lvl="0" marL="457200" rtl="0" algn="l">
              <a:spcBef>
                <a:spcPts val="0"/>
              </a:spcBef>
              <a:spcAft>
                <a:spcPts val="0"/>
              </a:spcAft>
              <a:buSzPts val="2000"/>
              <a:buChar char="●"/>
            </a:pPr>
            <a:r>
              <a:rPr lang="es"/>
              <a:t>Podemos modificar (lectura/escritura) recursos.</a:t>
            </a:r>
            <a:endParaRPr/>
          </a:p>
          <a:p>
            <a:pPr indent="0" lvl="0" marL="0" rtl="0" algn="l">
              <a:spcBef>
                <a:spcPts val="1200"/>
              </a:spcBef>
              <a:spcAft>
                <a:spcPts val="0"/>
              </a:spcAft>
              <a:buNone/>
            </a:pPr>
            <a:r>
              <a:rPr lang="es"/>
              <a:t>(</a:t>
            </a:r>
            <a:r>
              <a:rPr lang="es" u="sng">
                <a:solidFill>
                  <a:schemeClr val="hlink"/>
                </a:solidFill>
                <a:hlinkClick r:id="rId3"/>
              </a:rPr>
              <a:t>Web</a:t>
            </a:r>
            <a:r>
              <a:rPr lang="es"/>
              <a:t> con servicios web que ofrecen APIs)</a:t>
            </a:r>
            <a:endParaRPr/>
          </a:p>
          <a:p>
            <a:pPr indent="0" lvl="0" marL="0" rtl="0" algn="l">
              <a:spcBef>
                <a:spcPts val="1200"/>
              </a:spcBef>
              <a:spcAft>
                <a:spcPts val="1200"/>
              </a:spcAft>
              <a:buNone/>
            </a:pPr>
            <a:r>
              <a:t/>
            </a:r>
            <a:endParaRPr/>
          </a:p>
        </p:txBody>
      </p:sp>
      <p:pic>
        <p:nvPicPr>
          <p:cNvPr id="294" name="Google Shape;294;p15"/>
          <p:cNvPicPr preferRelativeResize="0"/>
          <p:nvPr/>
        </p:nvPicPr>
        <p:blipFill>
          <a:blip r:embed="rId4">
            <a:alphaModFix/>
          </a:blip>
          <a:stretch>
            <a:fillRect/>
          </a:stretch>
        </p:blipFill>
        <p:spPr>
          <a:xfrm>
            <a:off x="6189900" y="1597875"/>
            <a:ext cx="2801700" cy="260378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REST (RESTful Web API)</a:t>
            </a:r>
            <a:endParaRPr/>
          </a:p>
        </p:txBody>
      </p:sp>
      <p:sp>
        <p:nvSpPr>
          <p:cNvPr id="300" name="Google Shape;300;p16"/>
          <p:cNvSpPr txBox="1"/>
          <p:nvPr>
            <p:ph idx="1" type="body"/>
          </p:nvPr>
        </p:nvSpPr>
        <p:spPr>
          <a:xfrm>
            <a:off x="1303200" y="1338275"/>
            <a:ext cx="7155900" cy="31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a:t>
            </a:r>
            <a:r>
              <a:rPr b="1" lang="es"/>
              <a:t>transferencia de estado representacional</a:t>
            </a:r>
            <a:r>
              <a:rPr lang="es"/>
              <a:t> o REST es una  arquitectura software para sistemas hipermedia distribuidos como la World Wide Web (WWW). </a:t>
            </a:r>
            <a:endParaRPr/>
          </a:p>
          <a:p>
            <a:pPr indent="0" lvl="0" marL="0" rtl="0" algn="l">
              <a:spcBef>
                <a:spcPts val="1200"/>
              </a:spcBef>
              <a:spcAft>
                <a:spcPts val="1200"/>
              </a:spcAft>
              <a:buNone/>
            </a:pPr>
            <a:r>
              <a:rPr lang="es"/>
              <a:t>Este término se usa para describir cualquier interfaz entre sistemas que utilice HTTP para obtener datos o indicar la ejecución de operaciones sobre los datos, en cualquier formato (XML, JSON, etc) sin las abstracciones adicionales de los protocolos basados en patrones de intercambio de mensajes, como por ejemplo </a:t>
            </a:r>
            <a:r>
              <a:rPr lang="es" u="sng">
                <a:solidFill>
                  <a:schemeClr val="hlink"/>
                </a:solidFill>
                <a:hlinkClick r:id="rId3"/>
              </a:rPr>
              <a:t>SOAP</a:t>
            </a:r>
            <a:r>
              <a:rPr lang="es"/>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REST (RESTful Web API)</a:t>
            </a:r>
            <a:endParaRPr/>
          </a:p>
        </p:txBody>
      </p:sp>
      <p:sp>
        <p:nvSpPr>
          <p:cNvPr id="306" name="Google Shape;306;p17"/>
          <p:cNvSpPr txBox="1"/>
          <p:nvPr>
            <p:ph idx="1" type="body"/>
          </p:nvPr>
        </p:nvSpPr>
        <p:spPr>
          <a:xfrm>
            <a:off x="1303200" y="1338275"/>
            <a:ext cx="7155900" cy="31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la práctica sirve </a:t>
            </a:r>
            <a:r>
              <a:rPr lang="es"/>
              <a:t>para implementar servicios web mediante HTTP para la comunicación entre el cliente y el servidor.</a:t>
            </a:r>
            <a:endParaRPr/>
          </a:p>
          <a:p>
            <a:pPr indent="-355600" lvl="0" marL="457200" rtl="0" algn="l">
              <a:spcBef>
                <a:spcPts val="1200"/>
              </a:spcBef>
              <a:spcAft>
                <a:spcPts val="0"/>
              </a:spcAft>
              <a:buSzPts val="2000"/>
              <a:buChar char="●"/>
            </a:pPr>
            <a:r>
              <a:rPr lang="es"/>
              <a:t>El cliente realiza una petición HTTP:</a:t>
            </a:r>
            <a:endParaRPr/>
          </a:p>
          <a:p>
            <a:pPr indent="-330200" lvl="1" marL="914400" rtl="0" algn="l">
              <a:spcBef>
                <a:spcPts val="0"/>
              </a:spcBef>
              <a:spcAft>
                <a:spcPts val="0"/>
              </a:spcAft>
              <a:buSzPts val="1600"/>
              <a:buChar char="○"/>
            </a:pPr>
            <a:r>
              <a:rPr lang="es"/>
              <a:t>GET: consumidor de recursos.</a:t>
            </a:r>
            <a:endParaRPr/>
          </a:p>
          <a:p>
            <a:pPr indent="-330200" lvl="1" marL="914400" rtl="0" algn="l">
              <a:spcBef>
                <a:spcPts val="0"/>
              </a:spcBef>
              <a:spcAft>
                <a:spcPts val="0"/>
              </a:spcAft>
              <a:buSzPts val="1600"/>
              <a:buChar char="○"/>
            </a:pPr>
            <a:r>
              <a:rPr lang="es"/>
              <a:t>POST, PUT, DELETE, ...: modificador de recursos.</a:t>
            </a:r>
            <a:endParaRPr/>
          </a:p>
          <a:p>
            <a:pPr indent="-355600" lvl="0" marL="457200" rtl="0" algn="l">
              <a:spcBef>
                <a:spcPts val="0"/>
              </a:spcBef>
              <a:spcAft>
                <a:spcPts val="0"/>
              </a:spcAft>
              <a:buSzPts val="2000"/>
              <a:buChar char="●"/>
            </a:pPr>
            <a:r>
              <a:rPr lang="es"/>
              <a:t>El servidor devuelve la información en un determinado formato (XML, JSON).</a:t>
            </a:r>
            <a:endParaRPr/>
          </a:p>
          <a:p>
            <a:pPr indent="0" lvl="0" marL="0" rtl="0" algn="l">
              <a:spcBef>
                <a:spcPts val="1200"/>
              </a:spcBef>
              <a:spcAft>
                <a:spcPts val="1200"/>
              </a:spcAft>
              <a:buNone/>
            </a:pPr>
            <a:r>
              <a:rPr lang="es"/>
              <a:t>A veces se necesitan autentificación, que puede ser con una clave o con otros métodos más seguros: </a:t>
            </a:r>
            <a:r>
              <a:rPr lang="es" u="sng">
                <a:solidFill>
                  <a:schemeClr val="hlink"/>
                </a:solidFill>
                <a:hlinkClick r:id="rId3"/>
              </a:rPr>
              <a:t>OAuth</a:t>
            </a:r>
            <a:r>
              <a:rPr lang="es"/>
              <a:t>, </a:t>
            </a:r>
            <a:r>
              <a:rPr lang="es" u="sng">
                <a:solidFill>
                  <a:schemeClr val="hlink"/>
                </a:solidFill>
                <a:hlinkClick r:id="rId4"/>
              </a:rPr>
              <a:t>OAuth2</a:t>
            </a:r>
            <a:r>
              <a:rPr lang="es"/>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REST (RESTful Web API)</a:t>
            </a:r>
            <a:endParaRPr/>
          </a:p>
        </p:txBody>
      </p:sp>
      <p:sp>
        <p:nvSpPr>
          <p:cNvPr id="312" name="Google Shape;312;p18"/>
          <p:cNvSpPr txBox="1"/>
          <p:nvPr>
            <p:ph idx="1" type="body"/>
          </p:nvPr>
        </p:nvSpPr>
        <p:spPr>
          <a:xfrm>
            <a:off x="1303200" y="1338275"/>
            <a:ext cx="7155900" cy="3193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a:t> </a:t>
            </a:r>
            <a:endParaRPr/>
          </a:p>
        </p:txBody>
      </p:sp>
      <p:pic>
        <p:nvPicPr>
          <p:cNvPr id="313" name="Google Shape;313;p18"/>
          <p:cNvPicPr preferRelativeResize="0"/>
          <p:nvPr/>
        </p:nvPicPr>
        <p:blipFill>
          <a:blip r:embed="rId3">
            <a:alphaModFix/>
          </a:blip>
          <a:stretch>
            <a:fillRect/>
          </a:stretch>
        </p:blipFill>
        <p:spPr>
          <a:xfrm>
            <a:off x="1138847" y="1209675"/>
            <a:ext cx="4580925" cy="1744400"/>
          </a:xfrm>
          <a:prstGeom prst="rect">
            <a:avLst/>
          </a:prstGeom>
          <a:noFill/>
          <a:ln>
            <a:noFill/>
          </a:ln>
        </p:spPr>
      </p:pic>
      <p:pic>
        <p:nvPicPr>
          <p:cNvPr id="314" name="Google Shape;314;p18"/>
          <p:cNvPicPr preferRelativeResize="0"/>
          <p:nvPr/>
        </p:nvPicPr>
        <p:blipFill>
          <a:blip r:embed="rId4">
            <a:alphaModFix/>
          </a:blip>
          <a:stretch>
            <a:fillRect/>
          </a:stretch>
        </p:blipFill>
        <p:spPr>
          <a:xfrm>
            <a:off x="4119123" y="2567050"/>
            <a:ext cx="5059300" cy="2201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REST (RESTful Web API)</a:t>
            </a:r>
            <a:endParaRPr/>
          </a:p>
        </p:txBody>
      </p:sp>
      <p:sp>
        <p:nvSpPr>
          <p:cNvPr id="320" name="Google Shape;320;p19"/>
          <p:cNvSpPr txBox="1"/>
          <p:nvPr>
            <p:ph idx="1" type="body"/>
          </p:nvPr>
        </p:nvSpPr>
        <p:spPr>
          <a:xfrm>
            <a:off x="1303200" y="1109675"/>
            <a:ext cx="7155900" cy="31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a:t>
            </a:r>
            <a:r>
              <a:rPr lang="es"/>
              <a:t> URL usada para hacer la petición se denomina </a:t>
            </a:r>
            <a:r>
              <a:rPr b="1" lang="es"/>
              <a:t>request</a:t>
            </a:r>
            <a:r>
              <a:rPr lang="es"/>
              <a:t>, y los datos enviados por el servidor </a:t>
            </a:r>
            <a:r>
              <a:rPr b="1" lang="es"/>
              <a:t>response</a:t>
            </a:r>
            <a:r>
              <a:rPr lang="es"/>
              <a:t> (respuesta).</a:t>
            </a:r>
            <a:endParaRPr/>
          </a:p>
          <a:p>
            <a:pPr indent="0" lvl="0" marL="0" rtl="0" algn="l">
              <a:spcBef>
                <a:spcPts val="1200"/>
              </a:spcBef>
              <a:spcAft>
                <a:spcPts val="1200"/>
              </a:spcAft>
              <a:buNone/>
            </a:pPr>
            <a:r>
              <a:t/>
            </a:r>
            <a:endParaRPr/>
          </a:p>
        </p:txBody>
      </p:sp>
      <p:pic>
        <p:nvPicPr>
          <p:cNvPr id="321" name="Google Shape;321;p19"/>
          <p:cNvPicPr preferRelativeResize="0"/>
          <p:nvPr/>
        </p:nvPicPr>
        <p:blipFill>
          <a:blip r:embed="rId3">
            <a:alphaModFix/>
          </a:blip>
          <a:stretch>
            <a:fillRect/>
          </a:stretch>
        </p:blipFill>
        <p:spPr>
          <a:xfrm>
            <a:off x="1310126" y="1879427"/>
            <a:ext cx="7101803" cy="2906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Anatomía de una petición (request)</a:t>
            </a:r>
            <a:endParaRPr/>
          </a:p>
        </p:txBody>
      </p:sp>
      <p:sp>
        <p:nvSpPr>
          <p:cNvPr id="327" name="Google Shape;327;p20"/>
          <p:cNvSpPr txBox="1"/>
          <p:nvPr>
            <p:ph idx="1" type="body"/>
          </p:nvPr>
        </p:nvSpPr>
        <p:spPr>
          <a:xfrm>
            <a:off x="1303200" y="1490675"/>
            <a:ext cx="7365300" cy="3193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s"/>
              <a:t>E</a:t>
            </a:r>
            <a:r>
              <a:rPr lang="es"/>
              <a:t>ndpoint</a:t>
            </a:r>
            <a:endParaRPr/>
          </a:p>
          <a:p>
            <a:pPr indent="-330200" lvl="1" marL="914400" rtl="0" algn="l">
              <a:spcBef>
                <a:spcPts val="0"/>
              </a:spcBef>
              <a:spcAft>
                <a:spcPts val="0"/>
              </a:spcAft>
              <a:buSzPts val="1600"/>
              <a:buChar char="○"/>
            </a:pPr>
            <a:r>
              <a:rPr lang="es"/>
              <a:t>Root-endpoint</a:t>
            </a:r>
            <a:endParaRPr/>
          </a:p>
          <a:p>
            <a:pPr indent="-330200" lvl="1" marL="914400" rtl="0" algn="l">
              <a:spcBef>
                <a:spcPts val="0"/>
              </a:spcBef>
              <a:spcAft>
                <a:spcPts val="0"/>
              </a:spcAft>
              <a:buSzPts val="1600"/>
              <a:buChar char="○"/>
            </a:pPr>
            <a:r>
              <a:rPr lang="es"/>
              <a:t>Path</a:t>
            </a:r>
            <a:endParaRPr/>
          </a:p>
          <a:p>
            <a:pPr indent="-330200" lvl="1" marL="914400" rtl="0" algn="l">
              <a:spcBef>
                <a:spcPts val="0"/>
              </a:spcBef>
              <a:spcAft>
                <a:spcPts val="0"/>
              </a:spcAft>
              <a:buSzPts val="1600"/>
              <a:buChar char="○"/>
            </a:pPr>
            <a:r>
              <a:rPr lang="es"/>
              <a:t>Parámetros</a:t>
            </a:r>
            <a:endParaRPr/>
          </a:p>
          <a:p>
            <a:pPr indent="-355600" lvl="0" marL="457200" rtl="0" algn="l">
              <a:spcBef>
                <a:spcPts val="0"/>
              </a:spcBef>
              <a:spcAft>
                <a:spcPts val="0"/>
              </a:spcAft>
              <a:buSzPts val="2000"/>
              <a:buChar char="●"/>
            </a:pPr>
            <a:r>
              <a:rPr lang="es"/>
              <a:t>Método</a:t>
            </a:r>
            <a:endParaRPr/>
          </a:p>
          <a:p>
            <a:pPr indent="-330200" lvl="1" marL="914400" rtl="0" algn="l">
              <a:spcBef>
                <a:spcPts val="0"/>
              </a:spcBef>
              <a:spcAft>
                <a:spcPts val="0"/>
              </a:spcAft>
              <a:buSzPts val="1600"/>
              <a:buChar char="○"/>
            </a:pPr>
            <a:r>
              <a:rPr lang="es"/>
              <a:t>GET, POST, ...</a:t>
            </a:r>
            <a:endParaRPr/>
          </a:p>
          <a:p>
            <a:pPr indent="-355600" lvl="0" marL="457200" rtl="0" algn="l">
              <a:spcBef>
                <a:spcPts val="0"/>
              </a:spcBef>
              <a:spcAft>
                <a:spcPts val="0"/>
              </a:spcAft>
              <a:buSzPts val="2000"/>
              <a:buChar char="●"/>
            </a:pPr>
            <a:r>
              <a:rPr lang="es"/>
              <a:t>Headers (cabeceras).</a:t>
            </a:r>
            <a:endParaRPr/>
          </a:p>
          <a:p>
            <a:pPr indent="-355600" lvl="0" marL="457200" rtl="0" algn="l">
              <a:spcBef>
                <a:spcPts val="0"/>
              </a:spcBef>
              <a:spcAft>
                <a:spcPts val="0"/>
              </a:spcAft>
              <a:buSzPts val="2000"/>
              <a:buChar char="●"/>
            </a:pPr>
            <a:r>
              <a:rPr lang="es"/>
              <a:t>Datos (o body).</a:t>
            </a:r>
            <a:endParaRPr/>
          </a:p>
          <a:p>
            <a:pPr indent="457200" lvl="0" marL="2286000" rtl="0" algn="l">
              <a:spcBef>
                <a:spcPts val="1200"/>
              </a:spcBef>
              <a:spcAft>
                <a:spcPts val="1200"/>
              </a:spcAft>
              <a:buNone/>
            </a:pPr>
            <a:r>
              <a:rPr lang="es"/>
              <a:t>Más información: </a:t>
            </a:r>
            <a:r>
              <a:rPr lang="es" u="sng">
                <a:solidFill>
                  <a:schemeClr val="hlink"/>
                </a:solidFill>
                <a:hlinkClick r:id="rId3"/>
              </a:rPr>
              <a:t>Smashing Magazine</a:t>
            </a:r>
            <a:r>
              <a:rPr lang="es"/>
              <a:t>.</a:t>
            </a:r>
            <a:endParaRPr/>
          </a:p>
        </p:txBody>
      </p:sp>
      <p:pic>
        <p:nvPicPr>
          <p:cNvPr id="328" name="Google Shape;328;p20"/>
          <p:cNvPicPr preferRelativeResize="0"/>
          <p:nvPr/>
        </p:nvPicPr>
        <p:blipFill rotWithShape="1">
          <a:blip r:embed="rId4">
            <a:alphaModFix/>
          </a:blip>
          <a:srcRect b="16589" l="1195" r="0" t="23173"/>
          <a:stretch/>
        </p:blipFill>
        <p:spPr>
          <a:xfrm>
            <a:off x="3541975" y="2172936"/>
            <a:ext cx="5602526" cy="453350"/>
          </a:xfrm>
          <a:prstGeom prst="rect">
            <a:avLst/>
          </a:prstGeom>
          <a:noFill/>
          <a:ln>
            <a:noFill/>
          </a:ln>
        </p:spPr>
      </p:pic>
      <p:cxnSp>
        <p:nvCxnSpPr>
          <p:cNvPr id="329" name="Google Shape;329;p20"/>
          <p:cNvCxnSpPr/>
          <p:nvPr/>
        </p:nvCxnSpPr>
        <p:spPr>
          <a:xfrm>
            <a:off x="3982600" y="2528975"/>
            <a:ext cx="1737000" cy="8400"/>
          </a:xfrm>
          <a:prstGeom prst="straightConnector1">
            <a:avLst/>
          </a:prstGeom>
          <a:noFill/>
          <a:ln cap="flat" cmpd="sng" w="28575">
            <a:solidFill>
              <a:srgbClr val="FF0000"/>
            </a:solidFill>
            <a:prstDash val="solid"/>
            <a:round/>
            <a:headEnd len="med" w="med" type="none"/>
            <a:tailEnd len="med" w="med" type="none"/>
          </a:ln>
        </p:spPr>
      </p:cxnSp>
      <p:cxnSp>
        <p:nvCxnSpPr>
          <p:cNvPr id="330" name="Google Shape;330;p20"/>
          <p:cNvCxnSpPr/>
          <p:nvPr/>
        </p:nvCxnSpPr>
        <p:spPr>
          <a:xfrm>
            <a:off x="5829801" y="2533149"/>
            <a:ext cx="686400" cy="0"/>
          </a:xfrm>
          <a:prstGeom prst="straightConnector1">
            <a:avLst/>
          </a:prstGeom>
          <a:noFill/>
          <a:ln cap="flat" cmpd="sng" w="28575">
            <a:solidFill>
              <a:srgbClr val="0000FF"/>
            </a:solidFill>
            <a:prstDash val="solid"/>
            <a:round/>
            <a:headEnd len="med" w="med" type="none"/>
            <a:tailEnd len="med" w="med" type="none"/>
          </a:ln>
        </p:spPr>
      </p:cxnSp>
      <p:cxnSp>
        <p:nvCxnSpPr>
          <p:cNvPr id="331" name="Google Shape;331;p20"/>
          <p:cNvCxnSpPr/>
          <p:nvPr/>
        </p:nvCxnSpPr>
        <p:spPr>
          <a:xfrm flipH="1" rot="10800000">
            <a:off x="6626312" y="2529049"/>
            <a:ext cx="2385300" cy="8400"/>
          </a:xfrm>
          <a:prstGeom prst="straightConnector1">
            <a:avLst/>
          </a:prstGeom>
          <a:noFill/>
          <a:ln cap="flat" cmpd="sng" w="28575">
            <a:solidFill>
              <a:srgbClr val="00FF00"/>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Ventajas de usar REST</a:t>
            </a:r>
            <a:endParaRPr/>
          </a:p>
        </p:txBody>
      </p:sp>
      <p:sp>
        <p:nvSpPr>
          <p:cNvPr id="337" name="Google Shape;337;p21"/>
          <p:cNvSpPr txBox="1"/>
          <p:nvPr>
            <p:ph idx="1" type="body"/>
          </p:nvPr>
        </p:nvSpPr>
        <p:spPr>
          <a:xfrm>
            <a:off x="1303200" y="1490675"/>
            <a:ext cx="7155900" cy="3193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b="1" lang="es"/>
              <a:t>Separación entre el cliente y el servidor</a:t>
            </a:r>
            <a:r>
              <a:rPr lang="es"/>
              <a:t>: el protocolo REST separa totalmente la interfaz de usuario del servidor y el almacenamiento de datos. </a:t>
            </a:r>
            <a:endParaRPr/>
          </a:p>
          <a:p>
            <a:pPr indent="-355600" lvl="0" marL="457200" rtl="0" algn="l">
              <a:spcBef>
                <a:spcPts val="0"/>
              </a:spcBef>
              <a:spcAft>
                <a:spcPts val="0"/>
              </a:spcAft>
              <a:buSzPts val="2000"/>
              <a:buChar char="●"/>
            </a:pPr>
            <a:r>
              <a:rPr b="1" lang="es"/>
              <a:t>Visibilidad, fiabilidad y escalabilidad</a:t>
            </a:r>
            <a:r>
              <a:rPr lang="es"/>
              <a:t>. La separación facilita tener en servidores distintos el front y el back.</a:t>
            </a:r>
            <a:endParaRPr/>
          </a:p>
          <a:p>
            <a:pPr indent="-355600" lvl="0" marL="457200" rtl="0" algn="l">
              <a:spcBef>
                <a:spcPts val="0"/>
              </a:spcBef>
              <a:spcAft>
                <a:spcPts val="0"/>
              </a:spcAft>
              <a:buSzPts val="2000"/>
              <a:buChar char="●"/>
            </a:pPr>
            <a:r>
              <a:rPr b="1" lang="es"/>
              <a:t>La API REST es independiente</a:t>
            </a:r>
            <a:r>
              <a:rPr lang="es"/>
              <a:t> del tipo de plataformas o lenguajes. Lo único indispensable es que las respuestas a las peticiones se hagan siempre en el lenguaje de intercambio de información usado (XML o JSON).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Introducción a </a:t>
            </a:r>
            <a:r>
              <a:rPr lang="es"/>
              <a:t>Java HttpClient</a:t>
            </a:r>
            <a:endParaRPr/>
          </a:p>
        </p:txBody>
      </p:sp>
      <p:sp>
        <p:nvSpPr>
          <p:cNvPr id="343" name="Google Shape;343;p22"/>
          <p:cNvSpPr txBox="1"/>
          <p:nvPr>
            <p:ph idx="1" type="body"/>
          </p:nvPr>
        </p:nvSpPr>
        <p:spPr>
          <a:xfrm>
            <a:off x="796575" y="1490675"/>
            <a:ext cx="8177100" cy="31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3"/>
              </a:rPr>
              <a:t>Java HttpClient</a:t>
            </a:r>
            <a:r>
              <a:rPr lang="es"/>
              <a:t> se agregó en Java 11 y se usa para </a:t>
            </a:r>
            <a:r>
              <a:rPr b="1" lang="es"/>
              <a:t>solicitar recursos HTTP</a:t>
            </a:r>
            <a:r>
              <a:rPr lang="es"/>
              <a:t> a través de la red. Sus clases principales son: </a:t>
            </a:r>
            <a:endParaRPr/>
          </a:p>
          <a:p>
            <a:pPr indent="-355600" lvl="0" marL="457200" rtl="0" algn="l">
              <a:spcBef>
                <a:spcPts val="1200"/>
              </a:spcBef>
              <a:spcAft>
                <a:spcPts val="0"/>
              </a:spcAft>
              <a:buSzPts val="2000"/>
              <a:buChar char="●"/>
            </a:pPr>
            <a:r>
              <a:rPr lang="es" u="sng">
                <a:solidFill>
                  <a:schemeClr val="hlink"/>
                </a:solidFill>
                <a:latin typeface="Roboto Mono"/>
                <a:ea typeface="Roboto Mono"/>
                <a:cs typeface="Roboto Mono"/>
                <a:sym typeface="Roboto Mono"/>
                <a:hlinkClick r:id="rId4"/>
              </a:rPr>
              <a:t>HttpClient</a:t>
            </a:r>
            <a:r>
              <a:rPr lang="es"/>
              <a:t>: usado para enviar peticiones (</a:t>
            </a:r>
            <a:r>
              <a:rPr i="1" lang="es"/>
              <a:t>request</a:t>
            </a:r>
            <a:r>
              <a:rPr lang="es"/>
              <a:t>) y recibir respuestas (</a:t>
            </a:r>
            <a:r>
              <a:rPr i="1" lang="es"/>
              <a:t>response</a:t>
            </a:r>
            <a:r>
              <a:rPr lang="es"/>
              <a:t>).</a:t>
            </a:r>
            <a:endParaRPr/>
          </a:p>
          <a:p>
            <a:pPr indent="-355600" lvl="0" marL="457200" rtl="0" algn="l">
              <a:spcBef>
                <a:spcPts val="0"/>
              </a:spcBef>
              <a:spcAft>
                <a:spcPts val="0"/>
              </a:spcAft>
              <a:buSzPts val="2000"/>
              <a:buChar char="●"/>
            </a:pPr>
            <a:r>
              <a:rPr lang="es" u="sng">
                <a:solidFill>
                  <a:schemeClr val="hlink"/>
                </a:solidFill>
                <a:latin typeface="Roboto Mono"/>
                <a:ea typeface="Roboto Mono"/>
                <a:cs typeface="Roboto Mono"/>
                <a:sym typeface="Roboto Mono"/>
                <a:hlinkClick r:id="rId5"/>
              </a:rPr>
              <a:t>HttpRequest</a:t>
            </a:r>
            <a:r>
              <a:rPr lang="es"/>
              <a:t>: solicitud que se enviará a través de </a:t>
            </a:r>
            <a:r>
              <a:rPr lang="es">
                <a:latin typeface="Roboto Mono"/>
                <a:ea typeface="Roboto Mono"/>
                <a:cs typeface="Roboto Mono"/>
                <a:sym typeface="Roboto Mono"/>
              </a:rPr>
              <a:t>HttpClient</a:t>
            </a:r>
            <a:r>
              <a:rPr lang="es"/>
              <a:t>.</a:t>
            </a:r>
            <a:endParaRPr/>
          </a:p>
          <a:p>
            <a:pPr indent="-330200" lvl="1" marL="914400" rtl="0" algn="l">
              <a:spcBef>
                <a:spcPts val="0"/>
              </a:spcBef>
              <a:spcAft>
                <a:spcPts val="0"/>
              </a:spcAft>
              <a:buSzPts val="1600"/>
              <a:buChar char="○"/>
            </a:pPr>
            <a:r>
              <a:rPr lang="es"/>
              <a:t>Pueden ser </a:t>
            </a:r>
            <a:r>
              <a:rPr i="1" lang="es" u="sng">
                <a:solidFill>
                  <a:schemeClr val="hlink"/>
                </a:solidFill>
                <a:hlinkClick r:id="rId6"/>
              </a:rPr>
              <a:t>síncronas</a:t>
            </a:r>
            <a:r>
              <a:rPr lang="es"/>
              <a:t> o </a:t>
            </a:r>
            <a:r>
              <a:rPr i="1" lang="es" u="sng">
                <a:solidFill>
                  <a:schemeClr val="hlink"/>
                </a:solidFill>
                <a:hlinkClick r:id="rId7"/>
              </a:rPr>
              <a:t>asíncronas</a:t>
            </a:r>
            <a:r>
              <a:rPr lang="es"/>
              <a:t>.</a:t>
            </a:r>
            <a:endParaRPr/>
          </a:p>
          <a:p>
            <a:pPr indent="-355600" lvl="0" marL="457200" rtl="0" algn="l">
              <a:spcBef>
                <a:spcPts val="0"/>
              </a:spcBef>
              <a:spcAft>
                <a:spcPts val="0"/>
              </a:spcAft>
              <a:buSzPts val="2000"/>
              <a:buChar char="●"/>
            </a:pPr>
            <a:r>
              <a:rPr lang="es" u="sng">
                <a:solidFill>
                  <a:schemeClr val="hlink"/>
                </a:solidFill>
                <a:latin typeface="Roboto Mono"/>
                <a:ea typeface="Roboto Mono"/>
                <a:cs typeface="Roboto Mono"/>
                <a:sym typeface="Roboto Mono"/>
                <a:hlinkClick r:id="rId8"/>
              </a:rPr>
              <a:t>HttpResponse</a:t>
            </a:r>
            <a:r>
              <a:rPr lang="es"/>
              <a:t>: resultado de una llamada </a:t>
            </a:r>
            <a:r>
              <a:rPr lang="es">
                <a:latin typeface="Roboto Mono"/>
                <a:ea typeface="Roboto Mono"/>
                <a:cs typeface="Roboto Mono"/>
                <a:sym typeface="Roboto Mono"/>
              </a:rPr>
              <a:t>HttpRequest</a:t>
            </a:r>
            <a:r>
              <a:rPr lang="es"/>
              <a:t>.</a:t>
            </a:r>
            <a:endParaRPr/>
          </a:p>
          <a:p>
            <a:pPr indent="-330200" lvl="1" marL="914400" rtl="0" algn="l">
              <a:spcBef>
                <a:spcPts val="0"/>
              </a:spcBef>
              <a:spcAft>
                <a:spcPts val="0"/>
              </a:spcAft>
              <a:buSzPts val="1600"/>
              <a:buChar char="○"/>
            </a:pPr>
            <a:r>
              <a:rPr lang="es"/>
              <a:t>Se debe proporcionar un </a:t>
            </a:r>
            <a:r>
              <a:rPr lang="es" u="sng">
                <a:solidFill>
                  <a:schemeClr val="hlink"/>
                </a:solidFill>
                <a:latin typeface="Roboto Mono"/>
                <a:ea typeface="Roboto Mono"/>
                <a:cs typeface="Roboto Mono"/>
                <a:sym typeface="Roboto Mono"/>
                <a:hlinkClick r:id="rId9"/>
              </a:rPr>
              <a:t>BodyHandler</a:t>
            </a:r>
            <a:r>
              <a:rPr lang="es"/>
              <a:t> para cada </a:t>
            </a:r>
            <a:r>
              <a:rPr lang="es">
                <a:latin typeface="Roboto Mono"/>
                <a:ea typeface="Roboto Mono"/>
                <a:cs typeface="Roboto Mono"/>
                <a:sym typeface="Roboto Mono"/>
              </a:rPr>
              <a:t>HttpRequest</a:t>
            </a:r>
            <a:r>
              <a:rPr lang="es"/>
              <a:t> enviada. </a:t>
            </a:r>
            <a:r>
              <a:rPr lang="es">
                <a:latin typeface="Roboto Mono"/>
                <a:ea typeface="Roboto Mono"/>
                <a:cs typeface="Roboto Mono"/>
                <a:sym typeface="Roboto Mono"/>
              </a:rPr>
              <a:t>BodyHandler</a:t>
            </a:r>
            <a:r>
              <a:rPr lang="es"/>
              <a:t> determina cómo manejar el cuerpo de respuesta, si la hay.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Introducción a Java HttpClient</a:t>
            </a:r>
            <a:endParaRPr/>
          </a:p>
        </p:txBody>
      </p:sp>
      <p:sp>
        <p:nvSpPr>
          <p:cNvPr id="349" name="Google Shape;349;p23"/>
          <p:cNvSpPr txBox="1"/>
          <p:nvPr>
            <p:ph idx="1" type="body"/>
          </p:nvPr>
        </p:nvSpPr>
        <p:spPr>
          <a:xfrm>
            <a:off x="1303200" y="1490675"/>
            <a:ext cx="7155900" cy="3193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a:t> </a:t>
            </a:r>
            <a:endParaRPr/>
          </a:p>
        </p:txBody>
      </p:sp>
      <p:pic>
        <p:nvPicPr>
          <p:cNvPr id="350" name="Google Shape;350;p23"/>
          <p:cNvPicPr preferRelativeResize="0"/>
          <p:nvPr/>
        </p:nvPicPr>
        <p:blipFill>
          <a:blip r:embed="rId3">
            <a:alphaModFix/>
          </a:blip>
          <a:stretch>
            <a:fillRect/>
          </a:stretch>
        </p:blipFill>
        <p:spPr>
          <a:xfrm>
            <a:off x="0" y="1554111"/>
            <a:ext cx="9144001" cy="294967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REST en Java</a:t>
            </a:r>
            <a:endParaRPr/>
          </a:p>
        </p:txBody>
      </p:sp>
      <p:sp>
        <p:nvSpPr>
          <p:cNvPr id="356" name="Google Shape;356;p24"/>
          <p:cNvSpPr txBox="1"/>
          <p:nvPr>
            <p:ph idx="1" type="body"/>
          </p:nvPr>
        </p:nvSpPr>
        <p:spPr>
          <a:xfrm>
            <a:off x="1303200" y="1490675"/>
            <a:ext cx="7155900" cy="31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librería </a:t>
            </a:r>
            <a:r>
              <a:rPr lang="es">
                <a:latin typeface="Roboto Mono"/>
                <a:ea typeface="Roboto Mono"/>
                <a:cs typeface="Roboto Mono"/>
                <a:sym typeface="Roboto Mono"/>
              </a:rPr>
              <a:t>HttpClient</a:t>
            </a:r>
            <a:r>
              <a:rPr lang="es"/>
              <a:t> nos permite usar REST en Java de manera natural, usaremos el </a:t>
            </a:r>
            <a:r>
              <a:rPr i="1" lang="es"/>
              <a:t>endpoint</a:t>
            </a:r>
            <a:r>
              <a:rPr lang="es"/>
              <a:t> para hacer el </a:t>
            </a:r>
            <a:r>
              <a:rPr i="1" lang="es"/>
              <a:t>request</a:t>
            </a:r>
            <a:r>
              <a:rPr lang="es"/>
              <a:t>.</a:t>
            </a:r>
            <a:endParaRPr/>
          </a:p>
          <a:p>
            <a:pPr indent="0" lvl="0" marL="0" rtl="0" algn="l">
              <a:spcBef>
                <a:spcPts val="1200"/>
              </a:spcBef>
              <a:spcAft>
                <a:spcPts val="0"/>
              </a:spcAft>
              <a:buNone/>
            </a:pPr>
            <a:r>
              <a:rPr lang="es"/>
              <a:t>Tenemos que tener en cuenta que si la respuesta viene en JSON tenemos que </a:t>
            </a:r>
            <a:r>
              <a:rPr i="1" lang="es"/>
              <a:t>deserialiazarla</a:t>
            </a:r>
            <a:r>
              <a:rPr lang="es"/>
              <a:t>, lo que supone tener una clase donde “encajarla”.</a:t>
            </a:r>
            <a:endParaRPr/>
          </a:p>
          <a:p>
            <a:pPr indent="0" lvl="0" marL="0" rtl="0" algn="l">
              <a:spcBef>
                <a:spcPts val="1200"/>
              </a:spcBef>
              <a:spcAft>
                <a:spcPts val="1200"/>
              </a:spcAft>
              <a:buNone/>
            </a:pPr>
            <a:r>
              <a:rPr lang="es"/>
              <a:t>Si el JSON es complejo nos puede venir bien usar un generador de clases para JSON como </a:t>
            </a:r>
            <a:r>
              <a:rPr lang="es" u="sng">
                <a:solidFill>
                  <a:schemeClr val="hlink"/>
                </a:solidFill>
                <a:hlinkClick r:id="rId3"/>
              </a:rPr>
              <a:t>jsonschema2pojo</a:t>
            </a:r>
            <a:r>
              <a:rPr lang="es"/>
              <a:t> o </a:t>
            </a:r>
            <a:r>
              <a:rPr lang="es" u="sng">
                <a:solidFill>
                  <a:schemeClr val="hlink"/>
                </a:solidFill>
                <a:hlinkClick r:id="rId4"/>
              </a:rPr>
              <a:t>jsongen</a:t>
            </a:r>
            <a:r>
              <a:rPr lang="es"/>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Variables Java </a:t>
            </a:r>
            <a:r>
              <a:rPr lang="es">
                <a:solidFill>
                  <a:srgbClr val="980000"/>
                </a:solidFill>
              </a:rPr>
              <a:t>transient</a:t>
            </a:r>
            <a:endParaRPr>
              <a:solidFill>
                <a:srgbClr val="980000"/>
              </a:solidFill>
            </a:endParaRPr>
          </a:p>
        </p:txBody>
      </p:sp>
      <p:sp>
        <p:nvSpPr>
          <p:cNvPr id="362" name="Google Shape;362;p25"/>
          <p:cNvSpPr txBox="1"/>
          <p:nvPr>
            <p:ph idx="1" type="body"/>
          </p:nvPr>
        </p:nvSpPr>
        <p:spPr>
          <a:xfrm>
            <a:off x="1303200" y="1490675"/>
            <a:ext cx="7155900" cy="31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Uno de los modificadores que podemos aplicar a una variable Java es el </a:t>
            </a:r>
            <a:r>
              <a:rPr b="1" lang="es">
                <a:latin typeface="Roboto Mono"/>
                <a:ea typeface="Roboto Mono"/>
                <a:cs typeface="Roboto Mono"/>
                <a:sym typeface="Roboto Mono"/>
              </a:rPr>
              <a:t>transient</a:t>
            </a:r>
            <a:r>
              <a:rPr lang="es"/>
              <a:t>. </a:t>
            </a:r>
            <a:endParaRPr/>
          </a:p>
          <a:p>
            <a:pPr indent="0" lvl="0" marL="0" rtl="0" algn="l">
              <a:spcBef>
                <a:spcPts val="1200"/>
              </a:spcBef>
              <a:spcAft>
                <a:spcPts val="0"/>
              </a:spcAft>
              <a:buNone/>
            </a:pPr>
            <a:r>
              <a:rPr lang="es"/>
              <a:t>Las variables Java </a:t>
            </a:r>
            <a:r>
              <a:rPr lang="es">
                <a:latin typeface="Roboto Mono"/>
                <a:ea typeface="Roboto Mono"/>
                <a:cs typeface="Roboto Mono"/>
                <a:sym typeface="Roboto Mono"/>
              </a:rPr>
              <a:t>transient</a:t>
            </a:r>
            <a:r>
              <a:rPr lang="es"/>
              <a:t> sirven para demarcar el carácter temporal de dicha variable y en el caso de que </a:t>
            </a:r>
            <a:r>
              <a:rPr b="1" lang="es"/>
              <a:t>serialicemos</a:t>
            </a:r>
            <a:r>
              <a:rPr lang="es"/>
              <a:t> el objeto que contiene esa variable transient, su valor no se serializará.</a:t>
            </a:r>
            <a:endParaRPr/>
          </a:p>
          <a:p>
            <a:pPr indent="0" lvl="0" marL="0" rtl="0" algn="l">
              <a:spcBef>
                <a:spcPts val="1200"/>
              </a:spcBef>
              <a:spcAft>
                <a:spcPts val="1200"/>
              </a:spcAft>
              <a:buNone/>
            </a:pPr>
            <a:r>
              <a:rPr lang="es"/>
              <a:t>La </a:t>
            </a:r>
            <a:r>
              <a:rPr i="1" lang="es"/>
              <a:t>serialización</a:t>
            </a:r>
            <a:r>
              <a:rPr lang="es"/>
              <a:t> es el proceso de hacer que el estado del objeto sea persistente.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