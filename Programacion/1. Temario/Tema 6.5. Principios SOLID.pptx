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Caveat"/>
      <p:regular r:id="rId17"/>
      <p:bold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ve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font" Target="fonts/Cave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37c6714d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b37c6714d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37c6714d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37c6714d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b37c6714d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b37c6714d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37c6714d2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b37c6714d2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37c6714d2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b37c6714d2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b37c6714d2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b37c6714d2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b37c6714d2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b37c6714d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37c6714d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37c6714d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b37c6714d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b37c6714d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6f9799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b6f9799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/>
        </p:nvSpPr>
        <p:spPr>
          <a:xfrm>
            <a:off x="223825" y="4701325"/>
            <a:ext cx="3780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Programación Orientada a Objetos en Python</a:t>
            </a:r>
            <a:endParaRPr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239500" y="4723825"/>
            <a:ext cx="2473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00"/>
                </a:solidFill>
                <a:latin typeface="Caveat"/>
                <a:ea typeface="Caveat"/>
                <a:cs typeface="Caveat"/>
                <a:sym typeface="Caveat"/>
              </a:rPr>
              <a:t>Rafael del Castillo Gomariz</a:t>
            </a:r>
            <a:endParaRPr sz="1500">
              <a:solidFill>
                <a:srgbClr val="FF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3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13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6" name="Google Shape;116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7" name="Google Shape;117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1" name="Google Shape;121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" name="Google Shape;124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7" name="Google Shape;127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" name="Google Shape;180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" name="Google Shape;200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" name="Google Shape;205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" name="Google Shape;221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" name="Google Shape;251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6" name="Google Shape;256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" name="Google Shape;265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" name="Google Shape;270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.wikipedia.org/wiki/Object-oriented_design" TargetMode="External"/><Relationship Id="rId4" Type="http://schemas.openxmlformats.org/officeDocument/2006/relationships/hyperlink" Target="https://es.wikipedia.org/wiki/Robert_C._Martin" TargetMode="External"/><Relationship Id="rId5" Type="http://schemas.openxmlformats.org/officeDocument/2006/relationships/hyperlink" Target="https://devexpert.io/principio-responsabilidad-unica/" TargetMode="External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realpython.com/solid-principles-python/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devexpert.io/principio-responsabilidad-unica/#:~:text=donde%20tengas%20dudas.-,Ejemplo,-Un%20ejemplo%20t%C3%ADpico" TargetMode="External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alpython.com/solid-principles-python/#open-closed-principle-ocp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devexpert.io/principio-open-closed/#:~:text=violando%20este%20principio.-,Ejemplo,-Siguiendo%20con%20nuestro" TargetMode="External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Barbara_Liskov" TargetMode="External"/><Relationship Id="rId4" Type="http://schemas.openxmlformats.org/officeDocument/2006/relationships/hyperlink" Target="https://realpython.com/solid-principles-python/#liskov-substitution-principle-lsp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devexpert.io/principio-de-sustitucion-de-liskov/#:~:text=el%20primer%20caso.-,Ejemplo,-En%20la%20vida" TargetMode="External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ealpython.com/solid-principles-python/#interface-segregation-principle-isp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devexpert.io/principio-de-segregacion-de-interfaces/#:~:text=por%20esas%20interfaces.-,Ejemplo,-Imagina%20que%20tienes" TargetMode="External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realpython.com/solid-principles-python/#dependency-inversion-principle-dip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devexpert.io/principio-de-inversion-de-dependencias/#:~:text=con%20Hilt.-,Ejemplo,-Imaginemos%20que%20tenemos" TargetMode="External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xpert.io/ley-de-demeter/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XDrdpfZ_ru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ctrTitle"/>
          </p:nvPr>
        </p:nvSpPr>
        <p:spPr>
          <a:xfrm>
            <a:off x="824000" y="1613825"/>
            <a:ext cx="5812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Principios SOLID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(S</a:t>
            </a:r>
            <a:r>
              <a:rPr lang="es" sz="2800">
                <a:solidFill>
                  <a:srgbClr val="B7B7B7"/>
                </a:solidFill>
              </a:rPr>
              <a:t>RP</a:t>
            </a:r>
            <a:r>
              <a:rPr lang="es" sz="2800"/>
              <a:t>, O</a:t>
            </a:r>
            <a:r>
              <a:rPr lang="es" sz="2800">
                <a:solidFill>
                  <a:srgbClr val="B7B7B7"/>
                </a:solidFill>
              </a:rPr>
              <a:t>CP</a:t>
            </a:r>
            <a:r>
              <a:rPr lang="es" sz="2800"/>
              <a:t>, L</a:t>
            </a:r>
            <a:r>
              <a:rPr lang="es" sz="2800">
                <a:solidFill>
                  <a:srgbClr val="B7B7B7"/>
                </a:solidFill>
              </a:rPr>
              <a:t>SP</a:t>
            </a:r>
            <a:r>
              <a:rPr lang="es" sz="2800"/>
              <a:t>, I</a:t>
            </a:r>
            <a:r>
              <a:rPr lang="es" sz="2800">
                <a:solidFill>
                  <a:srgbClr val="B7B7B7"/>
                </a:solidFill>
              </a:rPr>
              <a:t>SP</a:t>
            </a:r>
            <a:r>
              <a:rPr lang="es" sz="2800"/>
              <a:t>, D</a:t>
            </a:r>
            <a:r>
              <a:rPr lang="es" sz="2800">
                <a:solidFill>
                  <a:srgbClr val="B7B7B7"/>
                </a:solidFill>
              </a:rPr>
              <a:t>IP</a:t>
            </a:r>
            <a:r>
              <a:rPr lang="es" sz="2800"/>
              <a:t>)</a:t>
            </a:r>
            <a:endParaRPr sz="2800"/>
          </a:p>
        </p:txBody>
      </p:sp>
      <p:sp>
        <p:nvSpPr>
          <p:cNvPr id="280" name="Google Shape;280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de Programación.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CFGS Desarrollo de Aplicaciones 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IES Gran Capitán</a:t>
            </a:r>
            <a:endParaRPr/>
          </a:p>
        </p:txBody>
      </p:sp>
      <p:pic>
        <p:nvPicPr>
          <p:cNvPr id="281" name="Google Shape;28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400" y="3388900"/>
            <a:ext cx="2133599" cy="174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son los principios SOLID?</a:t>
            </a:r>
            <a:endParaRPr/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1303800" y="14028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SOLID</a:t>
            </a:r>
            <a:r>
              <a:rPr lang="es"/>
              <a:t> es un acrónimo que representa un conjunto de cinco principios de </a:t>
            </a:r>
            <a:r>
              <a:rPr lang="es" u="sng">
                <a:solidFill>
                  <a:schemeClr val="hlink"/>
                </a:solidFill>
                <a:hlinkClick r:id="rId3"/>
              </a:rPr>
              <a:t>diseño de software en POO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Estos principios, propuestos por </a:t>
            </a:r>
            <a:r>
              <a:rPr lang="es" u="sng">
                <a:solidFill>
                  <a:schemeClr val="hlink"/>
                </a:solidFill>
                <a:hlinkClick r:id="rId4"/>
              </a:rPr>
              <a:t>Robert C. Martin</a:t>
            </a:r>
            <a:r>
              <a:rPr lang="es"/>
              <a:t> en el año 2000, ofrecen pautas para escribir código más modular, mantenible y extensible.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Cada letra de SOLID representa un principio específico que aborda distintos aspectos del diseño de software y promueve la creación de sistemas más sólidos y flexibles.</a:t>
            </a:r>
            <a:endParaRPr/>
          </a:p>
        </p:txBody>
      </p:sp>
      <p:pic>
        <p:nvPicPr>
          <p:cNvPr id="288" name="Google Shape;288;p1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000" y="3669750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Relación de principios SOLID</a:t>
            </a:r>
            <a:endParaRPr/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Principio de Responsabilidad Única (SRP)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Principio de Abierto/Cerrado (OCP)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Principio de Sustitución de Liskov (LSP)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Principio de Segregación de la Interfaz (ISP)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Principio de Inversión de Dependencia (DIP)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Estos principios actúan como un todo, por eso se tratan de forma conjunta.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Responsabilidad Única (SRP)</a:t>
            </a:r>
            <a:endParaRPr/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/>
              <a:t>Una clase debe tener solo una razón para cambiar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Una clase debería tener solo </a:t>
            </a:r>
            <a:r>
              <a:rPr b="1" lang="es"/>
              <a:t>una responsabilidad</a:t>
            </a:r>
            <a:r>
              <a:rPr lang="es"/>
              <a:t> que debería estar encapsulada dentro de la misma.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Cualquier cambio en esa responsabilidad debería afectar </a:t>
            </a:r>
            <a:r>
              <a:rPr lang="es"/>
              <a:t>sólo</a:t>
            </a:r>
            <a:r>
              <a:rPr lang="es"/>
              <a:t> a la clase en cuestión.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Si una clase se encarga de más de una tarea, entonces deberíamos </a:t>
            </a:r>
            <a:r>
              <a:rPr b="1" lang="es"/>
              <a:t>separar</a:t>
            </a:r>
            <a:r>
              <a:rPr lang="es"/>
              <a:t> esas tareas en clases separadas.</a:t>
            </a:r>
            <a:endParaRPr/>
          </a:p>
        </p:txBody>
      </p:sp>
      <p:pic>
        <p:nvPicPr>
          <p:cNvPr id="302" name="Google Shape;302;p1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00" y="3727125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1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125" y="3954300"/>
            <a:ext cx="611150" cy="6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8347475" y="4461575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rPr>
              <a:t>Ejemplo</a:t>
            </a:r>
            <a:endParaRPr i="1" sz="1000">
              <a:solidFill>
                <a:srgbClr val="98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Abierto/Cerrado (OCP)</a:t>
            </a:r>
            <a:endParaRPr/>
          </a:p>
        </p:txBody>
      </p:sp>
      <p:sp>
        <p:nvSpPr>
          <p:cNvPr id="311" name="Google Shape;311;p17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U</a:t>
            </a:r>
            <a:r>
              <a:rPr lang="es"/>
              <a:t>na entidad de software (clases, módulos, funciones, etc.) debería estar </a:t>
            </a:r>
            <a:r>
              <a:rPr b="1" lang="es"/>
              <a:t>abierta para la extensión</a:t>
            </a:r>
            <a:r>
              <a:rPr lang="es"/>
              <a:t> pero </a:t>
            </a:r>
            <a:r>
              <a:rPr b="1" lang="es"/>
              <a:t>cerrada para la modificación</a:t>
            </a:r>
            <a:r>
              <a:rPr lang="es"/>
              <a:t>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Muy ligado al primer principio (SRP).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El comportamiento de una clase se puede ampliar sin cambiar su código fuente, usando interfaces, herencia y </a:t>
            </a:r>
            <a:r>
              <a:rPr b="1" lang="es"/>
              <a:t>polimorfismo</a:t>
            </a:r>
            <a:r>
              <a:rPr lang="es"/>
              <a:t>.</a:t>
            </a:r>
            <a:endParaRPr/>
          </a:p>
        </p:txBody>
      </p:sp>
      <p:pic>
        <p:nvPicPr>
          <p:cNvPr id="312" name="Google Shape;312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000" y="3669750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4" name="Google Shape;314;p17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125" y="3954300"/>
            <a:ext cx="611150" cy="6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7"/>
          <p:cNvSpPr txBox="1"/>
          <p:nvPr/>
        </p:nvSpPr>
        <p:spPr>
          <a:xfrm>
            <a:off x="8347475" y="4461575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rPr>
              <a:t>Ejemplo</a:t>
            </a:r>
            <a:endParaRPr i="1" sz="1000">
              <a:solidFill>
                <a:srgbClr val="98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Sustitución de Liskov (LSP)</a:t>
            </a:r>
            <a:endParaRPr/>
          </a:p>
        </p:txBody>
      </p:sp>
      <p:sp>
        <p:nvSpPr>
          <p:cNvPr id="321" name="Google Shape;321;p18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/>
              <a:t>Los subtipos deben ser sustituibles por sus tipos base </a:t>
            </a:r>
            <a:r>
              <a:rPr lang="es"/>
              <a:t>(introducido por </a:t>
            </a:r>
            <a:r>
              <a:rPr lang="es" u="sng">
                <a:solidFill>
                  <a:schemeClr val="hlink"/>
                </a:solidFill>
                <a:hlinkClick r:id="rId3"/>
              </a:rPr>
              <a:t>Barbara Liskov</a:t>
            </a:r>
            <a:r>
              <a:rPr lang="es"/>
              <a:t> en 1987).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Si una clase base es utilizada, su clase derivada también debería poder ser utilizada </a:t>
            </a:r>
            <a:r>
              <a:rPr b="1" lang="es"/>
              <a:t>sin que el programa falle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Si un método sobrescrito no hace nada o lanza una excepción, es muy probable que estemos violando el principio de sustitución de Liskov.</a:t>
            </a:r>
            <a:endParaRPr/>
          </a:p>
        </p:txBody>
      </p:sp>
      <p:pic>
        <p:nvPicPr>
          <p:cNvPr id="322" name="Google Shape;322;p1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00" y="3727125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8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4" name="Google Shape;324;p1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2125" y="3954300"/>
            <a:ext cx="611150" cy="6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8"/>
          <p:cNvSpPr txBox="1"/>
          <p:nvPr/>
        </p:nvSpPr>
        <p:spPr>
          <a:xfrm>
            <a:off x="8347475" y="4461575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rPr>
              <a:t>Ejemplo</a:t>
            </a:r>
            <a:endParaRPr i="1" sz="1000">
              <a:solidFill>
                <a:srgbClr val="98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Segregación de la Interfaz (ISP)</a:t>
            </a:r>
            <a:endParaRPr/>
          </a:p>
        </p:txBody>
      </p:sp>
      <p:sp>
        <p:nvSpPr>
          <p:cNvPr id="331" name="Google Shape;331;p19"/>
          <p:cNvSpPr txBox="1"/>
          <p:nvPr>
            <p:ph idx="1" type="body"/>
          </p:nvPr>
        </p:nvSpPr>
        <p:spPr>
          <a:xfrm>
            <a:off x="1303800" y="14790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/>
              <a:t>Una clase no debe estar obligada a implementar interfaces que no utiliza</a:t>
            </a:r>
            <a:r>
              <a:rPr lang="es"/>
              <a:t>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En estos casos es muy habitual lanzar una excepción, o simplemente no hacer nada.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Puede producir </a:t>
            </a:r>
            <a:r>
              <a:rPr b="1" lang="es"/>
              <a:t>efectos secundarios</a:t>
            </a:r>
            <a:r>
              <a:rPr lang="es"/>
              <a:t> no deseados.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Este principio aboga por la </a:t>
            </a:r>
            <a:r>
              <a:rPr b="1" lang="es"/>
              <a:t>creación de interfaces específicas</a:t>
            </a:r>
            <a:r>
              <a:rPr lang="es"/>
              <a:t> para cada cliente, en lugar de tener una única interfaz grande que se aplica a múltiples clientes.</a:t>
            </a:r>
            <a:endParaRPr/>
          </a:p>
        </p:txBody>
      </p:sp>
      <p:pic>
        <p:nvPicPr>
          <p:cNvPr id="332" name="Google Shape;332;p1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00" y="3727125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4" name="Google Shape;334;p1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125" y="3954300"/>
            <a:ext cx="611150" cy="6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9"/>
          <p:cNvSpPr txBox="1"/>
          <p:nvPr/>
        </p:nvSpPr>
        <p:spPr>
          <a:xfrm>
            <a:off x="8347475" y="4461575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rPr>
              <a:t>Ejemplo</a:t>
            </a:r>
            <a:endParaRPr i="1" sz="1000">
              <a:solidFill>
                <a:srgbClr val="98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Inversión de Dependencia (DIP)</a:t>
            </a:r>
            <a:endParaRPr/>
          </a:p>
        </p:txBody>
      </p:sp>
      <p:sp>
        <p:nvSpPr>
          <p:cNvPr id="341" name="Google Shape;341;p20"/>
          <p:cNvSpPr txBox="1"/>
          <p:nvPr>
            <p:ph idx="1" type="body"/>
          </p:nvPr>
        </p:nvSpPr>
        <p:spPr>
          <a:xfrm>
            <a:off x="1303800" y="14028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/>
              <a:t>Las abstracciones no deberían depender de los detalles. Los detalles deberían depender de las abstracciones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Las clases de alto nivel no deberían depender de las clases de bajo nivel.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El núcleo del código no debe depender de los detalles de implementación (librería concreta, base de datos, …).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Disminuye significativamente el </a:t>
            </a:r>
            <a:r>
              <a:rPr b="1" lang="es"/>
              <a:t>acoplamiento</a:t>
            </a:r>
            <a:r>
              <a:rPr lang="es"/>
              <a:t>.</a:t>
            </a:r>
            <a:endParaRPr/>
          </a:p>
        </p:txBody>
      </p:sp>
      <p:pic>
        <p:nvPicPr>
          <p:cNvPr id="342" name="Google Shape;342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00" y="3727125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0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4" name="Google Shape;344;p20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125" y="3954300"/>
            <a:ext cx="611150" cy="6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0"/>
          <p:cNvSpPr txBox="1"/>
          <p:nvPr/>
        </p:nvSpPr>
        <p:spPr>
          <a:xfrm>
            <a:off x="8347475" y="4461575"/>
            <a:ext cx="978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rPr>
              <a:t>Ejemplo</a:t>
            </a:r>
            <a:endParaRPr i="1" sz="1000">
              <a:solidFill>
                <a:srgbClr val="98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Bonus: Ley de Demeter</a:t>
            </a:r>
            <a:endParaRPr/>
          </a:p>
        </p:txBody>
      </p:sp>
      <p:sp>
        <p:nvSpPr>
          <p:cNvPr id="351" name="Google Shape;351;p21"/>
          <p:cNvSpPr txBox="1"/>
          <p:nvPr>
            <p:ph idx="1" type="body"/>
          </p:nvPr>
        </p:nvSpPr>
        <p:spPr>
          <a:xfrm>
            <a:off x="1303800" y="13266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i="1" lang="es"/>
              <a:t>No aceptes caramelos de desconocidos</a:t>
            </a:r>
            <a:r>
              <a:rPr lang="es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Un objeto A debe interactuar solo con objetos que son: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Parte de A (composición).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Creados por A.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/>
              <a:t>Pasados como un argumento a A (como parámetro de método).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Un objeto no debería conocer las entrañas de otros objetos con los que interactúa.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Reduce el acoplamiento y mejora la modularidad.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No hay que ser excesivamente estricto.</a:t>
            </a:r>
            <a:endParaRPr/>
          </a:p>
        </p:txBody>
      </p:sp>
      <p:pic>
        <p:nvPicPr>
          <p:cNvPr id="352" name="Google Shape;352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00" y="3727125"/>
            <a:ext cx="864149" cy="86414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229175" y="4435575"/>
            <a:ext cx="1150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Nunito"/>
                <a:ea typeface="Nunito"/>
                <a:cs typeface="Nunito"/>
                <a:sym typeface="Nunito"/>
              </a:rPr>
              <a:t>Más información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los Principios SOLID</a:t>
            </a:r>
            <a:endParaRPr/>
          </a:p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1303800" y="1555275"/>
            <a:ext cx="7030500" cy="29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Facilitan la corrección de errores, las modificaciones y la incorporación de nuevas funcionalidades.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Favorecen la reutilización de código.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Hacen que el código sea más claro y comprensible.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Facilitan las Pruebas Unitarias.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Reducen el acoplamiento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Hacen el código más modular.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>
            <p:ph type="title"/>
          </p:nvPr>
        </p:nvSpPr>
        <p:spPr>
          <a:xfrm>
            <a:off x="1303800" y="4461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Masterclass</a:t>
            </a:r>
            <a:r>
              <a:rPr lang="es"/>
              <a:t> de DesarrolloWeb</a:t>
            </a:r>
            <a:endParaRPr/>
          </a:p>
        </p:txBody>
      </p:sp>
      <p:pic>
        <p:nvPicPr>
          <p:cNvPr descr="Próximo miércoles 31 de enero Masterclass de SOLID. Buenas prácticas y principios en el diseño de aplicaciones y su desempeño como claves de la arquitectura del software." id="365" name="Google Shape;365;p23" title="Masterclass de principios SOLID y arquitectura de softwar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1838" y="1138975"/>
            <a:ext cx="6214425" cy="34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